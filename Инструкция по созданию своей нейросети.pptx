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DFC5A-0BA3-48DF-8776-7D62A734E1D0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68F41-30E0-47E1-8C51-F1B5D1DE02E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flow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910" y="1285860"/>
            <a:ext cx="7772400" cy="1470025"/>
          </a:xfrm>
        </p:spPr>
        <p:txBody>
          <a:bodyPr/>
          <a:lstStyle/>
          <a:p>
            <a:r>
              <a:rPr lang="ru-RU" dirty="0" smtClean="0"/>
              <a:t>Инструкция по </a:t>
            </a:r>
            <a:r>
              <a:rPr lang="ru-RU" dirty="0" smtClean="0"/>
              <a:t>созданию своей </a:t>
            </a:r>
            <a:r>
              <a:rPr lang="ru-RU" dirty="0" err="1" smtClean="0"/>
              <a:t>нейросети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57224" y="3357562"/>
            <a:ext cx="71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Цель</a:t>
            </a:r>
            <a:r>
              <a:rPr lang="en-US" sz="2400" dirty="0" smtClean="0"/>
              <a:t>:</a:t>
            </a:r>
            <a:r>
              <a:rPr lang="ru-RU" sz="2400" dirty="0" smtClean="0"/>
              <a:t> получить конечный файл </a:t>
            </a:r>
            <a:r>
              <a:rPr lang="en-US" sz="2400" dirty="0" smtClean="0"/>
              <a:t>best.pt </a:t>
            </a:r>
            <a:r>
              <a:rPr lang="ru-RU" sz="2400" dirty="0" smtClean="0"/>
              <a:t>готовый для запуска на </a:t>
            </a:r>
            <a:r>
              <a:rPr lang="en-US" sz="2400" dirty="0" smtClean="0"/>
              <a:t>Raspberry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85852" y="4572008"/>
            <a:ext cx="6215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/>
              <a:t>примечание</a:t>
            </a:r>
            <a:r>
              <a:rPr lang="en-US" sz="1600" i="1" dirty="0" smtClean="0"/>
              <a:t>:</a:t>
            </a:r>
            <a:r>
              <a:rPr lang="ru-RU" sz="1600" i="1" dirty="0" smtClean="0"/>
              <a:t> под </a:t>
            </a:r>
            <a:r>
              <a:rPr lang="en-US" sz="1600" i="1" dirty="0" smtClean="0"/>
              <a:t>“Raspberry”</a:t>
            </a:r>
            <a:r>
              <a:rPr lang="ru-RU" sz="1600" i="1" dirty="0" smtClean="0"/>
              <a:t> подразумевается микроконтроллер </a:t>
            </a:r>
            <a:r>
              <a:rPr lang="ru-RU" sz="1600" i="1" dirty="0" err="1" smtClean="0"/>
              <a:t>беспилотника</a:t>
            </a:r>
            <a:r>
              <a:rPr lang="ru-RU" sz="1600" i="1" dirty="0" smtClean="0"/>
              <a:t>, будь то </a:t>
            </a:r>
            <a:r>
              <a:rPr lang="en-US" sz="1600" i="1" dirty="0" err="1" smtClean="0"/>
              <a:t>RaspberryPI</a:t>
            </a:r>
            <a:r>
              <a:rPr lang="ru-RU" sz="1600" i="1" dirty="0" smtClean="0"/>
              <a:t> или </a:t>
            </a:r>
            <a:r>
              <a:rPr lang="en-US" sz="1600" i="1" dirty="0" err="1" smtClean="0"/>
              <a:t>OrangePI</a:t>
            </a:r>
            <a:endParaRPr lang="ru-RU" sz="16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285852" y="5429264"/>
            <a:ext cx="6215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/>
              <a:t>примечание2</a:t>
            </a:r>
            <a:r>
              <a:rPr lang="en-US" sz="1600" i="1" dirty="0" smtClean="0"/>
              <a:t>:</a:t>
            </a:r>
            <a:r>
              <a:rPr lang="ru-RU" sz="1600" i="1" dirty="0" smtClean="0"/>
              <a:t> в данной презентации я настраиваю </a:t>
            </a:r>
            <a:r>
              <a:rPr lang="ru-RU" sz="1600" i="1" dirty="0" err="1" smtClean="0"/>
              <a:t>нейросеть</a:t>
            </a:r>
            <a:r>
              <a:rPr lang="ru-RU" sz="1600" i="1" dirty="0" smtClean="0"/>
              <a:t> для запуска в симуляции </a:t>
            </a:r>
            <a:r>
              <a:rPr lang="en-US" sz="1600" i="1" dirty="0" smtClean="0"/>
              <a:t>Gazebo,</a:t>
            </a:r>
            <a:r>
              <a:rPr lang="ru-RU" sz="1600" i="1" dirty="0" smtClean="0"/>
              <a:t> но принцип действий должен подходить также и для реальной задачи</a:t>
            </a:r>
            <a:endParaRPr lang="ru-RU" sz="16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2908" y="500042"/>
            <a:ext cx="9429816" cy="1470025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Шаг 0 – </a:t>
            </a:r>
            <a:r>
              <a:rPr lang="ru-RU" sz="4000" dirty="0" smtClean="0"/>
              <a:t>собрать данные (фотографии)</a:t>
            </a:r>
            <a:endParaRPr lang="ru-RU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285720" y="1857364"/>
            <a:ext cx="87154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/>
              <a:t>Чем больше фотографий тем лучше. В зависимости от сложности задачи может хватить и сотни изображений, но если есть возможность, то советую не останавливаться на этом.</a:t>
            </a:r>
          </a:p>
          <a:p>
            <a:pPr algn="just"/>
            <a:r>
              <a:rPr lang="ru-RU" sz="2000" dirty="0" smtClean="0"/>
              <a:t>Для модуля В советую собрать до 1000 изображений</a:t>
            </a:r>
            <a:endParaRPr lang="ru-RU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3357562"/>
            <a:ext cx="6000792" cy="2729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285720" y="3929066"/>
            <a:ext cx="8715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err="1"/>
              <a:t>р</a:t>
            </a:r>
            <a:r>
              <a:rPr lang="ru-RU" dirty="0" err="1" smtClean="0"/>
              <a:t>овер</a:t>
            </a:r>
            <a:r>
              <a:rPr lang="ru-RU" dirty="0" smtClean="0"/>
              <a:t> – 400</a:t>
            </a:r>
          </a:p>
          <a:p>
            <a:pPr algn="just"/>
            <a:r>
              <a:rPr lang="ru-RU" dirty="0" smtClean="0"/>
              <a:t>светофор красный – 150</a:t>
            </a:r>
          </a:p>
          <a:p>
            <a:pPr algn="just"/>
            <a:r>
              <a:rPr lang="ru-RU" dirty="0"/>
              <a:t>с</a:t>
            </a:r>
            <a:r>
              <a:rPr lang="ru-RU" dirty="0" smtClean="0"/>
              <a:t>ветофор зеленый – 150</a:t>
            </a:r>
          </a:p>
          <a:p>
            <a:pPr algn="just"/>
            <a:r>
              <a:rPr lang="ru-RU" dirty="0" smtClean="0"/>
              <a:t>стоп линия – 300</a:t>
            </a:r>
          </a:p>
          <a:p>
            <a:pPr algn="just"/>
            <a:r>
              <a:rPr lang="ru-RU" b="1" dirty="0" smtClean="0"/>
              <a:t>всего – 1000 </a:t>
            </a:r>
            <a:endParaRPr lang="ru-RU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.1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создать проект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928802"/>
            <a:ext cx="3571900" cy="763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571604" y="1785926"/>
            <a:ext cx="6215106" cy="1112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latin typeface="+mj-lt"/>
                <a:ea typeface="+mj-ea"/>
                <a:cs typeface="+mj-cs"/>
              </a:rPr>
              <a:t>заходим на сайт </a:t>
            </a:r>
            <a:r>
              <a:rPr lang="en-US" sz="2000" dirty="0" err="1" smtClean="0">
                <a:latin typeface="+mj-lt"/>
                <a:ea typeface="+mj-ea"/>
                <a:cs typeface="+mj-cs"/>
              </a:rPr>
              <a:t>roboflow</a:t>
            </a:r>
            <a:endParaRPr lang="en-US" sz="2000" dirty="0" smtClean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en-US" sz="2000" dirty="0" smtClean="0">
                <a:latin typeface="+mj-lt"/>
                <a:ea typeface="+mj-ea"/>
                <a:cs typeface="+mj-cs"/>
                <a:hlinkClick r:id="rId3"/>
              </a:rPr>
              <a:t>roboflow.com</a:t>
            </a:r>
            <a:endParaRPr lang="ru-RU" sz="2000" dirty="0" smtClean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</a:pPr>
            <a:r>
              <a:rPr lang="ru-RU" sz="2000" dirty="0" smtClean="0">
                <a:latin typeface="+mj-lt"/>
                <a:ea typeface="+mj-ea"/>
                <a:cs typeface="+mj-cs"/>
              </a:rPr>
              <a:t>и заходим в </a:t>
            </a:r>
            <a:r>
              <a:rPr lang="ru-RU" sz="2000" dirty="0" err="1" smtClean="0">
                <a:latin typeface="+mj-lt"/>
                <a:ea typeface="+mj-ea"/>
                <a:cs typeface="+mj-cs"/>
              </a:rPr>
              <a:t>аккаунт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3042" y="3071810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/>
              <a:t>слева нажимаем </a:t>
            </a:r>
            <a:r>
              <a:rPr lang="en-US" sz="2000" dirty="0" smtClean="0"/>
              <a:t>projects</a:t>
            </a:r>
            <a:endParaRPr lang="ru-RU" sz="2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2844197"/>
            <a:ext cx="1490660" cy="79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2" y="3714752"/>
            <a:ext cx="1639968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643042" y="3714752"/>
            <a:ext cx="2357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/>
              <a:t>и справа сверху </a:t>
            </a:r>
            <a:r>
              <a:rPr lang="en-US" sz="2000" dirty="0" smtClean="0"/>
              <a:t>new project</a:t>
            </a:r>
            <a:endParaRPr lang="ru-RU" sz="200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29058" y="4572008"/>
            <a:ext cx="5214974" cy="1904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28596" y="4929198"/>
            <a:ext cx="37147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выбираем </a:t>
            </a:r>
            <a:r>
              <a:rPr lang="en-US" dirty="0" smtClean="0"/>
              <a:t>Object detection </a:t>
            </a:r>
            <a:r>
              <a:rPr lang="ru-RU" dirty="0" smtClean="0"/>
              <a:t>и заполняем поля </a:t>
            </a:r>
            <a:r>
              <a:rPr lang="en-US" dirty="0" smtClean="0"/>
              <a:t>name</a:t>
            </a:r>
            <a:r>
              <a:rPr lang="ru-RU" dirty="0" smtClean="0"/>
              <a:t> (просто любое имя) и </a:t>
            </a:r>
            <a:r>
              <a:rPr lang="en-US" dirty="0" smtClean="0"/>
              <a:t>a</a:t>
            </a:r>
            <a:r>
              <a:rPr lang="en-US" dirty="0" smtClean="0"/>
              <a:t>nnotation </a:t>
            </a:r>
            <a:r>
              <a:rPr lang="en-US" dirty="0"/>
              <a:t>g</a:t>
            </a:r>
            <a:r>
              <a:rPr lang="en-US" dirty="0" smtClean="0"/>
              <a:t>roup</a:t>
            </a:r>
            <a:r>
              <a:rPr lang="ru-RU" dirty="0" smtClean="0"/>
              <a:t> (просто описание, тоже ни на что не влияет)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.2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загрузить изображения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643182"/>
            <a:ext cx="6429420" cy="358256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714348" y="1857364"/>
            <a:ext cx="7500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загружаем файлы удобным способом – по отдельности или папкой</a:t>
            </a:r>
            <a:endParaRPr lang="ru-RU" sz="20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29520" y="3929066"/>
            <a:ext cx="1447799" cy="87995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58082" y="5000636"/>
            <a:ext cx="1557333" cy="41110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 – разметить изображения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224" y="1928802"/>
            <a:ext cx="542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дальше выбираем способ разметки – лучше самостоятельно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label myself</a:t>
            </a:r>
            <a:endParaRPr lang="ru-RU" dirty="0" smtClean="0"/>
          </a:p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571612"/>
            <a:ext cx="2097383" cy="2518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714480" y="4572008"/>
            <a:ext cx="350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потом </a:t>
            </a:r>
            <a:r>
              <a:rPr lang="en-US" dirty="0" smtClean="0"/>
              <a:t>start annotating</a:t>
            </a:r>
            <a:endParaRPr lang="ru-R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29256" y="4429132"/>
            <a:ext cx="2219325" cy="904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.3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разметить изображения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643050"/>
            <a:ext cx="4207589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00034" y="2143116"/>
            <a:ext cx="335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этом окне придется провести больше всего времени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428596" y="3871745"/>
            <a:ext cx="5500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чтобы выделить объект есть множество инструментов, я советую использовать любой, но единый для всех. для этого лучше всего подходит обычный прямоугольник </a:t>
            </a:r>
            <a:r>
              <a:rPr lang="en-US" dirty="0" smtClean="0"/>
              <a:t>bounding box</a:t>
            </a:r>
            <a:endParaRPr lang="ru-RU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3929066"/>
            <a:ext cx="1938331" cy="107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28596" y="5286388"/>
            <a:ext cx="550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указания объекта появится окошко подтверждения. введи имя для нового класса или выбери существующий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5143512"/>
            <a:ext cx="1636593" cy="134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.3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разметить изображения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8596" y="2357430"/>
            <a:ext cx="55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чтобы указать тот факт что объектов на картинке нет есть инструмент </a:t>
            </a:r>
            <a:r>
              <a:rPr lang="en-US" dirty="0" smtClean="0"/>
              <a:t>Null Tool</a:t>
            </a:r>
            <a:endParaRPr lang="ru-RU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2071678"/>
            <a:ext cx="2378208" cy="1266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28596" y="3429000"/>
            <a:ext cx="55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чтобы переключиться на следующую картинку используем стрелочку сверху (не галочку)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3429000"/>
            <a:ext cx="3502642" cy="781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4500570"/>
            <a:ext cx="183832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428596" y="4786322"/>
            <a:ext cx="550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того как все размечено нажимаем галочку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 – завершить создание </a:t>
            </a:r>
            <a:r>
              <a:rPr kumimoji="0" lang="ru-RU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датасета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1785926"/>
            <a:ext cx="2593111" cy="2069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1000100" y="2500306"/>
            <a:ext cx="38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нам предлагают выбрать именно выгрузить изображения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844" y="4500570"/>
            <a:ext cx="38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настоятельно рекомендую выбрать формат </a:t>
            </a:r>
            <a:r>
              <a:rPr lang="ru-RU" dirty="0" err="1" smtClean="0"/>
              <a:t>сплит</a:t>
            </a:r>
            <a:r>
              <a:rPr lang="ru-RU" dirty="0" smtClean="0"/>
              <a:t> 70/20/10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214818"/>
            <a:ext cx="2852734" cy="153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43636" y="4000504"/>
            <a:ext cx="2781562" cy="1809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6000768"/>
            <a:ext cx="1285884" cy="53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lang="ru-RU" sz="3600" dirty="0">
                <a:latin typeface="+mj-lt"/>
                <a:ea typeface="+mj-ea"/>
                <a:cs typeface="+mj-cs"/>
              </a:rPr>
              <a:t>4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завершить создание </a:t>
            </a:r>
            <a:r>
              <a:rPr kumimoji="0" lang="ru-RU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датасета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62" y="1714488"/>
            <a:ext cx="3110522" cy="136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500166" y="1714488"/>
            <a:ext cx="22860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 сути </a:t>
            </a:r>
            <a:r>
              <a:rPr lang="ru-RU" dirty="0" err="1" smtClean="0"/>
              <a:t>датасет</a:t>
            </a:r>
            <a:r>
              <a:rPr lang="ru-RU" dirty="0" smtClean="0"/>
              <a:t> уже готов, осталось только</a:t>
            </a:r>
            <a:r>
              <a:rPr lang="en-US" dirty="0" smtClean="0"/>
              <a:t> </a:t>
            </a:r>
            <a:r>
              <a:rPr lang="ru-RU" dirty="0" smtClean="0"/>
              <a:t>довести до  ума и выгрузить его отсюда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44" y="3345420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нажимаем</a:t>
            </a:r>
            <a:r>
              <a:rPr lang="en-US" dirty="0" smtClean="0"/>
              <a:t> New dataset version</a:t>
            </a:r>
            <a:r>
              <a:rPr lang="ru-RU" dirty="0" smtClean="0"/>
              <a:t> сверху справа 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286124"/>
            <a:ext cx="2057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3929066"/>
            <a:ext cx="3484671" cy="276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1857356" y="4286256"/>
            <a:ext cx="478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выбираем имя для версии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357826"/>
            <a:ext cx="4786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идут пункты по настройке. первые два уже выполнены – это выгрузка изображений и распределение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lang="ru-RU" sz="3600" dirty="0">
                <a:latin typeface="+mj-lt"/>
                <a:ea typeface="+mj-ea"/>
                <a:cs typeface="+mj-cs"/>
              </a:rPr>
              <a:t>4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завершить создание </a:t>
            </a:r>
            <a:r>
              <a:rPr kumimoji="0" lang="ru-RU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датасета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472" y="1928802"/>
            <a:ext cx="47863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идет пункт </a:t>
            </a:r>
            <a:r>
              <a:rPr lang="en-US" dirty="0" smtClean="0"/>
              <a:t>3) Preprocessing</a:t>
            </a:r>
          </a:p>
          <a:p>
            <a:r>
              <a:rPr lang="ru-RU" dirty="0" smtClean="0"/>
              <a:t>по сути инструменты от </a:t>
            </a:r>
            <a:r>
              <a:rPr lang="en-US" dirty="0" err="1" smtClean="0"/>
              <a:t>roboflow</a:t>
            </a:r>
            <a:r>
              <a:rPr lang="en-US" dirty="0" smtClean="0"/>
              <a:t> </a:t>
            </a:r>
            <a:r>
              <a:rPr lang="ru-RU" dirty="0" smtClean="0"/>
              <a:t>которые могут привести данные в нормальный вид, если с ними что то не так. можешь выбрать пункты которые считаешь нужными, но если делать все правильно на этапе сборке данных, то необходимости в этом не будет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1714488"/>
            <a:ext cx="2682292" cy="136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0892" y="2428868"/>
            <a:ext cx="1714512" cy="1579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71472" y="4143380"/>
            <a:ext cx="4786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идет пункт 4) </a:t>
            </a:r>
            <a:r>
              <a:rPr lang="en-US" dirty="0" smtClean="0"/>
              <a:t>Augmentation</a:t>
            </a:r>
          </a:p>
          <a:p>
            <a:r>
              <a:rPr lang="ru-RU" dirty="0" smtClean="0"/>
              <a:t>искусственное увеличение </a:t>
            </a:r>
            <a:r>
              <a:rPr lang="ru-RU" dirty="0" err="1" smtClean="0"/>
              <a:t>датасета</a:t>
            </a:r>
            <a:r>
              <a:rPr lang="ru-RU" dirty="0" smtClean="0"/>
              <a:t> путем изменения имеющихся изображений.</a:t>
            </a:r>
          </a:p>
          <a:p>
            <a:r>
              <a:rPr lang="ru-RU" dirty="0" smtClean="0"/>
              <a:t>можно натыкать вообще все, но по сути достаточно 4-5 пунктов, остальное - шлак. смотри по ситуации.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3643314"/>
            <a:ext cx="3444443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lang="ru-RU" sz="3600" dirty="0">
                <a:latin typeface="+mj-lt"/>
                <a:ea typeface="+mj-ea"/>
                <a:cs typeface="+mj-cs"/>
              </a:rPr>
              <a:t>4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завершить создание </a:t>
            </a:r>
            <a:r>
              <a:rPr kumimoji="0" lang="ru-RU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датасета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472" y="1928802"/>
            <a:ext cx="27860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идет пункт 5) </a:t>
            </a:r>
            <a:r>
              <a:rPr lang="en-US" dirty="0" smtClean="0"/>
              <a:t>Create</a:t>
            </a:r>
            <a:endParaRPr lang="ru-RU" dirty="0" smtClean="0"/>
          </a:p>
          <a:p>
            <a:r>
              <a:rPr lang="ru-RU" dirty="0" smtClean="0"/>
              <a:t>тут предлагают выбрать итоговый размер </a:t>
            </a:r>
            <a:r>
              <a:rPr lang="ru-RU" dirty="0" err="1" smtClean="0"/>
              <a:t>датасета</a:t>
            </a:r>
            <a:r>
              <a:rPr lang="ru-RU" dirty="0" smtClean="0"/>
              <a:t>. бери максимум и жми </a:t>
            </a:r>
            <a:r>
              <a:rPr lang="en-US" dirty="0" smtClean="0"/>
              <a:t>create version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1785926"/>
            <a:ext cx="5283810" cy="164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57224" y="3286124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все. </a:t>
            </a:r>
            <a:r>
              <a:rPr lang="ru-RU" dirty="0" err="1" smtClean="0"/>
              <a:t>датасет</a:t>
            </a:r>
            <a:r>
              <a:rPr lang="ru-RU" dirty="0" smtClean="0"/>
              <a:t> готов.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10" y="3714752"/>
            <a:ext cx="38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теперь жмем </a:t>
            </a:r>
            <a:r>
              <a:rPr lang="en-US" dirty="0" smtClean="0"/>
              <a:t>download dataset</a:t>
            </a:r>
            <a:endParaRPr lang="ru-RU" dirty="0" smtClean="0"/>
          </a:p>
          <a:p>
            <a:r>
              <a:rPr lang="ru-RU" dirty="0" smtClean="0"/>
              <a:t>но мы не будем его скачивать.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571876"/>
            <a:ext cx="19335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571472" y="4714884"/>
            <a:ext cx="38576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откроется окно настройки.</a:t>
            </a:r>
            <a:endParaRPr lang="en-US" dirty="0" smtClean="0"/>
          </a:p>
          <a:p>
            <a:r>
              <a:rPr lang="ru-RU" dirty="0" smtClean="0"/>
              <a:t>выбираем </a:t>
            </a:r>
            <a:r>
              <a:rPr lang="en-US" dirty="0" smtClean="0"/>
              <a:t>YOLOv8</a:t>
            </a:r>
            <a:endParaRPr lang="ru-RU" dirty="0" smtClean="0"/>
          </a:p>
          <a:p>
            <a:r>
              <a:rPr lang="ru-RU" dirty="0" smtClean="0"/>
              <a:t>берем </a:t>
            </a:r>
            <a:r>
              <a:rPr lang="en-US" dirty="0" smtClean="0"/>
              <a:t>“show download code”</a:t>
            </a:r>
            <a:endParaRPr lang="ru-RU" dirty="0" smtClean="0"/>
          </a:p>
          <a:p>
            <a:r>
              <a:rPr lang="ru-RU" dirty="0" smtClean="0"/>
              <a:t>и убираем пункт </a:t>
            </a:r>
            <a:r>
              <a:rPr lang="en-US" dirty="0" smtClean="0"/>
              <a:t>also train…</a:t>
            </a:r>
          </a:p>
          <a:p>
            <a:r>
              <a:rPr lang="ru-RU" dirty="0" smtClean="0"/>
              <a:t>никаких </a:t>
            </a:r>
            <a:r>
              <a:rPr lang="en-US" dirty="0" smtClean="0"/>
              <a:t>train</a:t>
            </a:r>
            <a:r>
              <a:rPr lang="ru-RU" dirty="0" smtClean="0"/>
              <a:t>, будем сами обучать.</a:t>
            </a:r>
          </a:p>
        </p:txBody>
      </p:sp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4214818"/>
            <a:ext cx="4020659" cy="2450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 – создать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142908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1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5 – выгрузить </a:t>
            </a:r>
            <a:r>
              <a:rPr kumimoji="0" lang="ru-RU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датасет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1643050"/>
            <a:ext cx="3857652" cy="214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428596" y="2071678"/>
            <a:ext cx="385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откроется окно с готовым кодом. нужно сохранить его.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1670" y="4357694"/>
            <a:ext cx="5072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дальше переходим в </a:t>
            </a:r>
            <a:r>
              <a:rPr lang="en-US" sz="2400" dirty="0" err="1" smtClean="0"/>
              <a:t>google</a:t>
            </a:r>
            <a:r>
              <a:rPr lang="en-US" sz="2400" dirty="0" smtClean="0"/>
              <a:t> </a:t>
            </a:r>
            <a:r>
              <a:rPr lang="en-US" sz="2400" dirty="0" err="1" smtClean="0"/>
              <a:t>colab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colab.research.google.com</a:t>
            </a:r>
            <a:endParaRPr lang="ru-RU" sz="24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обучить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нейросеть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214346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2.1 – настроить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google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colab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596" y="2071678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создаем блокнот, сохраняем на </a:t>
            </a:r>
            <a:r>
              <a:rPr lang="ru-RU" dirty="0" err="1" smtClean="0"/>
              <a:t>гугл</a:t>
            </a:r>
            <a:r>
              <a:rPr lang="ru-RU" dirty="0" smtClean="0"/>
              <a:t> диске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857364"/>
            <a:ext cx="3214710" cy="2211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00034" y="4429132"/>
            <a:ext cx="4500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впервую</a:t>
            </a:r>
            <a:r>
              <a:rPr lang="ru-RU" dirty="0" smtClean="0"/>
              <a:t> очередь устанавливаем библиотеку </a:t>
            </a:r>
            <a:r>
              <a:rPr lang="en-US" dirty="0" err="1" smtClean="0"/>
              <a:t>roboflow</a:t>
            </a:r>
            <a:endParaRPr lang="ru-RU" dirty="0" smtClean="0"/>
          </a:p>
          <a:p>
            <a:r>
              <a:rPr lang="en-US" dirty="0"/>
              <a:t>!pip install </a:t>
            </a:r>
            <a:r>
              <a:rPr lang="en-US" dirty="0" err="1"/>
              <a:t>ultralytics</a:t>
            </a:r>
            <a:r>
              <a:rPr lang="en-US" dirty="0"/>
              <a:t> </a:t>
            </a:r>
            <a:r>
              <a:rPr lang="en-US" dirty="0" err="1" smtClean="0"/>
              <a:t>roboflow</a:t>
            </a:r>
            <a:endParaRPr 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4214818"/>
            <a:ext cx="2214578" cy="1273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00034" y="5572140"/>
            <a:ext cx="3786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этого вставляем полученный на сайте код </a:t>
            </a:r>
            <a:r>
              <a:rPr lang="ru-RU" sz="1200" dirty="0" smtClean="0"/>
              <a:t>(там уже записана установка библиотеки. можно удалить эту строку, либо забить.)</a:t>
            </a:r>
            <a:endParaRPr lang="en-US" dirty="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5572140"/>
            <a:ext cx="3921130" cy="1083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обучить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нейросеть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214346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2.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</a:t>
            </a:r>
            <a:r>
              <a:rPr kumimoji="0" lang="ru-RU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оздать</a:t>
            </a:r>
            <a:r>
              <a:rPr kumimoji="0" lang="ru-RU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модель и запустить обучение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5786" y="1782537"/>
            <a:ext cx="785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этого можем создать экземпляр модели с помощью кода ниже </a:t>
            </a:r>
          </a:p>
          <a:p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43116"/>
            <a:ext cx="4645531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071538" y="3929066"/>
            <a:ext cx="785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его тебе никто не даст, поэтому вот в виде текста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71538" y="4214818"/>
            <a:ext cx="7858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 </a:t>
            </a:r>
            <a:r>
              <a:rPr lang="en-US" sz="1200" dirty="0" err="1"/>
              <a:t>ultralytics</a:t>
            </a:r>
            <a:r>
              <a:rPr lang="en-US" sz="1200" dirty="0"/>
              <a:t> import </a:t>
            </a:r>
            <a:r>
              <a:rPr lang="en-US" sz="1200" dirty="0" smtClean="0"/>
              <a:t>YOLO</a:t>
            </a:r>
            <a:endParaRPr lang="ru-RU" sz="1200" dirty="0"/>
          </a:p>
          <a:p>
            <a:r>
              <a:rPr lang="en-US" sz="1200" dirty="0" err="1"/>
              <a:t>data_path</a:t>
            </a:r>
            <a:r>
              <a:rPr lang="en-US" sz="1200" dirty="0"/>
              <a:t> = "/content/Gazebo-rover-detection-2/</a:t>
            </a:r>
            <a:r>
              <a:rPr lang="en-US" sz="1200" dirty="0" err="1"/>
              <a:t>data.yaml</a:t>
            </a:r>
            <a:r>
              <a:rPr lang="en-US" sz="1200" dirty="0"/>
              <a:t>"  # </a:t>
            </a:r>
            <a:r>
              <a:rPr lang="en-US" sz="1200" dirty="0" err="1"/>
              <a:t>Roboflow</a:t>
            </a:r>
            <a:r>
              <a:rPr lang="en-US" sz="1200" dirty="0"/>
              <a:t> </a:t>
            </a:r>
            <a:r>
              <a:rPr lang="ru-RU" sz="1200" dirty="0"/>
              <a:t>создаст этот </a:t>
            </a:r>
            <a:r>
              <a:rPr lang="ru-RU" sz="1200" dirty="0" smtClean="0"/>
              <a:t>файл</a:t>
            </a:r>
            <a:endParaRPr lang="ru-RU" sz="1200" dirty="0"/>
          </a:p>
          <a:p>
            <a:r>
              <a:rPr lang="en-US" sz="1200" dirty="0"/>
              <a:t>model = YOLO('yolov8n.yaml')  </a:t>
            </a:r>
          </a:p>
          <a:p>
            <a:r>
              <a:rPr lang="en-US" sz="1200" dirty="0"/>
              <a:t>results = </a:t>
            </a:r>
            <a:r>
              <a:rPr lang="en-US" sz="1200" dirty="0" err="1" smtClean="0"/>
              <a:t>model.train</a:t>
            </a:r>
            <a:r>
              <a:rPr lang="en-US" sz="1200" dirty="0" smtClean="0"/>
              <a:t>(data=</a:t>
            </a:r>
            <a:r>
              <a:rPr lang="en-US" sz="1200" dirty="0" err="1" smtClean="0"/>
              <a:t>data_path</a:t>
            </a:r>
            <a:r>
              <a:rPr lang="en-US" sz="1200" dirty="0" smtClean="0"/>
              <a:t>,</a:t>
            </a:r>
            <a:r>
              <a:rPr lang="ru-RU" sz="1200" dirty="0" smtClean="0"/>
              <a:t> </a:t>
            </a:r>
            <a:r>
              <a:rPr lang="en-US" sz="1200" dirty="0" smtClean="0"/>
              <a:t>epochs=70, </a:t>
            </a:r>
            <a:r>
              <a:rPr lang="en-US" sz="1200" dirty="0" err="1" smtClean="0"/>
              <a:t>imgsz</a:t>
            </a:r>
            <a:r>
              <a:rPr lang="en-US" sz="1200" dirty="0" smtClean="0"/>
              <a:t>=</a:t>
            </a:r>
            <a:r>
              <a:rPr lang="ru-RU" sz="1200" dirty="0" smtClean="0"/>
              <a:t>(320,240)</a:t>
            </a:r>
            <a:r>
              <a:rPr lang="en-US" sz="1200" dirty="0" smtClean="0"/>
              <a:t>, </a:t>
            </a:r>
            <a:r>
              <a:rPr lang="en-US" sz="1200" dirty="0"/>
              <a:t>batch=16</a:t>
            </a:r>
            <a:r>
              <a:rPr lang="en-US" sz="1200" dirty="0" smtClean="0"/>
              <a:t>, </a:t>
            </a:r>
            <a:r>
              <a:rPr lang="en-US" sz="1200" dirty="0"/>
              <a:t>name=</a:t>
            </a:r>
            <a:r>
              <a:rPr lang="en-US" sz="1200" dirty="0" smtClean="0"/>
              <a:t>'</a:t>
            </a:r>
            <a:r>
              <a:rPr lang="en-US" sz="1200" dirty="0" err="1" smtClean="0"/>
              <a:t>my_model</a:t>
            </a:r>
            <a:r>
              <a:rPr lang="en-US" sz="1200" dirty="0" smtClean="0"/>
              <a:t>’)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print("</a:t>
            </a:r>
            <a:r>
              <a:rPr lang="ru-RU" sz="1200" dirty="0"/>
              <a:t>Обучение завершено")</a:t>
            </a:r>
          </a:p>
          <a:p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5214950"/>
            <a:ext cx="928690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400" dirty="0" smtClean="0"/>
              <a:t>в этом коде нужно поменять значения следующих переменных на свои</a:t>
            </a:r>
            <a:r>
              <a:rPr lang="en-US" sz="1400" dirty="0" smtClean="0"/>
              <a:t>:</a:t>
            </a:r>
            <a:endParaRPr lang="ru-RU" sz="1400" dirty="0" smtClean="0"/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ru-RU" sz="1400" dirty="0" smtClean="0"/>
              <a:t> </a:t>
            </a:r>
            <a:r>
              <a:rPr lang="en-US" sz="1400" dirty="0" err="1" smtClean="0"/>
              <a:t>data_path</a:t>
            </a:r>
            <a:r>
              <a:rPr lang="en-US" sz="1400" dirty="0" smtClean="0"/>
              <a:t> </a:t>
            </a:r>
            <a:r>
              <a:rPr lang="ru-RU" sz="1400" dirty="0" smtClean="0"/>
              <a:t>– это путь </a:t>
            </a:r>
            <a:r>
              <a:rPr lang="ru-RU" sz="1400" dirty="0"/>
              <a:t>д</a:t>
            </a:r>
            <a:r>
              <a:rPr lang="ru-RU" sz="1400" dirty="0" smtClean="0"/>
              <a:t>о файла </a:t>
            </a:r>
            <a:r>
              <a:rPr lang="en-US" sz="1400" dirty="0" err="1" smtClean="0"/>
              <a:t>data.yaml</a:t>
            </a:r>
            <a:r>
              <a:rPr lang="ru-RU" sz="1400" dirty="0" smtClean="0"/>
              <a:t>, найди его в папках и скопируй его путь в код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US" sz="1400" dirty="0" smtClean="0"/>
              <a:t> epochs</a:t>
            </a:r>
            <a:r>
              <a:rPr lang="ru-RU" sz="1400" dirty="0" smtClean="0"/>
              <a:t> – количество эпох (сеансов обучения). чем больше, тем дольше, но качественнее советую ставить от 50.</a:t>
            </a:r>
          </a:p>
          <a:p>
            <a:pPr>
              <a:lnSpc>
                <a:spcPct val="120000"/>
              </a:lnSpc>
            </a:pPr>
            <a:r>
              <a:rPr lang="ru-RU" sz="1400" dirty="0" smtClean="0"/>
              <a:t>(1 эпоха ≈ 4 минуты)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US" sz="1400" dirty="0"/>
              <a:t> </a:t>
            </a:r>
            <a:r>
              <a:rPr lang="en-US" sz="1400" dirty="0" smtClean="0"/>
              <a:t>batch –</a:t>
            </a:r>
            <a:r>
              <a:rPr lang="ru-RU" sz="1400" dirty="0" smtClean="0"/>
              <a:t> количество используемых изображений для обучения за 1 эпоху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US" sz="1400" dirty="0" err="1" smtClean="0"/>
              <a:t>imgsz</a:t>
            </a:r>
            <a:r>
              <a:rPr lang="ru-RU" sz="1400" dirty="0" smtClean="0"/>
              <a:t> – разрешение изображений. узнай размер своих изображений и вставь их сюда, предполагаю будет 320 на 240</a:t>
            </a:r>
            <a:endParaRPr lang="en-US" sz="1400" dirty="0"/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endParaRPr lang="en-US" sz="1400" dirty="0"/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endParaRPr lang="en-US" sz="1400" dirty="0"/>
          </a:p>
          <a:p>
            <a:pPr>
              <a:lnSpc>
                <a:spcPct val="120000"/>
              </a:lnSpc>
            </a:pPr>
            <a:endParaRPr lang="ru-RU" sz="1400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обучить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нейросеть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214346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2.</a:t>
            </a:r>
            <a:r>
              <a:rPr lang="ru-RU" sz="3600" dirty="0">
                <a:latin typeface="+mj-lt"/>
                <a:ea typeface="+mj-ea"/>
                <a:cs typeface="+mj-cs"/>
              </a:rPr>
              <a:t>3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ru-RU" sz="3600" dirty="0" smtClean="0">
                <a:latin typeface="+mj-lt"/>
                <a:ea typeface="+mj-ea"/>
                <a:cs typeface="+mj-cs"/>
              </a:rPr>
              <a:t>обучение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4414" y="1782537"/>
            <a:ext cx="628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просто ожидаем. это может занять до нескольких часов 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214554"/>
            <a:ext cx="5929354" cy="163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обучить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нейросеть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214346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2.</a:t>
            </a:r>
            <a:r>
              <a:rPr lang="ru-RU" sz="3600" dirty="0">
                <a:latin typeface="+mj-lt"/>
                <a:ea typeface="+mj-ea"/>
                <a:cs typeface="+mj-cs"/>
              </a:rPr>
              <a:t>3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ru-RU" sz="3600" dirty="0" smtClean="0">
                <a:latin typeface="+mj-lt"/>
                <a:ea typeface="+mj-ea"/>
                <a:cs typeface="+mj-cs"/>
              </a:rPr>
              <a:t>обучение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4414" y="1782537"/>
            <a:ext cx="628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далее просто ожидаем. это может занять до нескольких часов 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214554"/>
            <a:ext cx="5929354" cy="163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-112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обучить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нейросеть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-214346" y="57148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2.4 – </a:t>
            </a:r>
            <a:r>
              <a:rPr lang="en-US" sz="3600" dirty="0">
                <a:latin typeface="+mj-lt"/>
                <a:ea typeface="+mj-ea"/>
                <a:cs typeface="+mj-cs"/>
              </a:rPr>
              <a:t> </a:t>
            </a:r>
            <a:r>
              <a:rPr lang="ru-RU" sz="3600" dirty="0" smtClean="0">
                <a:latin typeface="+mj-lt"/>
                <a:ea typeface="+mj-ea"/>
                <a:cs typeface="+mj-cs"/>
              </a:rPr>
              <a:t>получение результатов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4414" y="1785926"/>
            <a:ext cx="642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этого где-то на дне файловой системы будет файл </a:t>
            </a:r>
            <a:r>
              <a:rPr lang="en-US" dirty="0" smtClean="0"/>
              <a:t>best.pt </a:t>
            </a:r>
            <a:endParaRPr lang="ru-RU" dirty="0" smtClean="0"/>
          </a:p>
          <a:p>
            <a:r>
              <a:rPr lang="ru-RU" dirty="0" smtClean="0"/>
              <a:t>это как раз то, что нужно</a:t>
            </a:r>
            <a:endParaRPr 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2428868"/>
            <a:ext cx="28479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214414" y="4425743"/>
            <a:ext cx="64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дальше его можно использовать в любой питон программе</a:t>
            </a:r>
            <a:endParaRPr lang="en-US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929198"/>
            <a:ext cx="29908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125020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lang="ru-RU" sz="4000" dirty="0">
                <a:latin typeface="+mj-lt"/>
                <a:ea typeface="+mj-ea"/>
                <a:cs typeface="+mj-cs"/>
              </a:rPr>
              <a:t>3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использование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596" y="1285860"/>
            <a:ext cx="68580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 smtClean="0"/>
              <a:t>нейросеть</a:t>
            </a:r>
            <a:r>
              <a:rPr lang="ru-RU" sz="1600" dirty="0" smtClean="0"/>
              <a:t> импортируется в программу через библиотеку </a:t>
            </a:r>
            <a:r>
              <a:rPr lang="en-US" sz="1600" dirty="0" err="1" smtClean="0"/>
              <a:t>ultralytics</a:t>
            </a:r>
            <a:endParaRPr lang="ru-RU" sz="1600" dirty="0" smtClean="0"/>
          </a:p>
          <a:p>
            <a:r>
              <a:rPr lang="ru-RU" sz="1600" dirty="0" smtClean="0"/>
              <a:t>сначала нужно скачать ее на устройство</a:t>
            </a:r>
          </a:p>
          <a:p>
            <a:r>
              <a:rPr lang="en-US" sz="1600" dirty="0" smtClean="0"/>
              <a:t>pip install </a:t>
            </a:r>
            <a:r>
              <a:rPr lang="en-US" sz="1600" dirty="0" err="1" smtClean="0"/>
              <a:t>ultralytics</a:t>
            </a:r>
            <a:endParaRPr lang="ru-RU" sz="1600" dirty="0" smtClean="0"/>
          </a:p>
          <a:p>
            <a:endParaRPr lang="ru-RU" sz="1600" dirty="0" smtClean="0"/>
          </a:p>
          <a:p>
            <a:r>
              <a:rPr lang="ru-RU" sz="1600" dirty="0" smtClean="0"/>
              <a:t>после этого можно импортировать </a:t>
            </a:r>
            <a:r>
              <a:rPr lang="en-US" sz="1600" dirty="0" smtClean="0"/>
              <a:t>YOLO </a:t>
            </a:r>
          </a:p>
          <a:p>
            <a:r>
              <a:rPr lang="en-US" sz="1600" dirty="0" smtClean="0"/>
              <a:t>from </a:t>
            </a:r>
            <a:r>
              <a:rPr lang="en-US" sz="1600" dirty="0" err="1" smtClean="0"/>
              <a:t>ultralytics</a:t>
            </a:r>
            <a:r>
              <a:rPr lang="en-US" sz="1600" dirty="0" smtClean="0"/>
              <a:t> import YOLO</a:t>
            </a:r>
          </a:p>
          <a:p>
            <a:r>
              <a:rPr lang="en-US" sz="1600" dirty="0" smtClean="0"/>
              <a:t> </a:t>
            </a:r>
          </a:p>
          <a:p>
            <a:r>
              <a:rPr lang="ru-RU" sz="1600" dirty="0" smtClean="0"/>
              <a:t>создать экземпляр модели с помощью файла</a:t>
            </a:r>
          </a:p>
          <a:p>
            <a:r>
              <a:rPr lang="en-US" sz="1600" dirty="0" smtClean="0"/>
              <a:t>model = YOLO('best.pt')</a:t>
            </a:r>
            <a:endParaRPr lang="ru-RU" sz="1600" dirty="0" smtClean="0"/>
          </a:p>
          <a:p>
            <a:endParaRPr lang="ru-RU" sz="1600" dirty="0" smtClean="0"/>
          </a:p>
          <a:p>
            <a:r>
              <a:rPr lang="ru-RU" sz="1600" dirty="0" smtClean="0"/>
              <a:t>после этого дать ей задание в виде изображения и получить результат</a:t>
            </a:r>
          </a:p>
          <a:p>
            <a:r>
              <a:rPr lang="en-US" sz="1600" dirty="0" smtClean="0"/>
              <a:t>results = model('input.jpg')</a:t>
            </a:r>
          </a:p>
          <a:p>
            <a:endParaRPr lang="ru-RU" sz="1600" dirty="0" smtClean="0"/>
          </a:p>
          <a:p>
            <a:r>
              <a:rPr lang="ru-RU" sz="1600" dirty="0" smtClean="0"/>
              <a:t>этот результат можно распаковать разными способами</a:t>
            </a:r>
            <a:r>
              <a:rPr lang="en-US" sz="1600" dirty="0" smtClean="0"/>
              <a:t>:</a:t>
            </a:r>
            <a:endParaRPr lang="ru-RU" sz="1600" dirty="0" smtClean="0"/>
          </a:p>
          <a:p>
            <a:r>
              <a:rPr lang="en-US" sz="1600" dirty="0" smtClean="0"/>
              <a:t>results[0].show()</a:t>
            </a:r>
            <a:r>
              <a:rPr lang="ru-RU" sz="1600" dirty="0" smtClean="0"/>
              <a:t> – сразу откроет файл в редакторе изображений</a:t>
            </a:r>
          </a:p>
          <a:p>
            <a:r>
              <a:rPr lang="ru-RU" sz="500" dirty="0"/>
              <a:t> </a:t>
            </a:r>
            <a:endParaRPr lang="ru-RU" sz="1600" dirty="0" smtClean="0"/>
          </a:p>
          <a:p>
            <a:r>
              <a:rPr lang="en-US" sz="1600" dirty="0" smtClean="0"/>
              <a:t>boxes </a:t>
            </a:r>
            <a:r>
              <a:rPr lang="en-US" sz="1600" dirty="0"/>
              <a:t>=</a:t>
            </a:r>
            <a:r>
              <a:rPr lang="en-US" sz="1600" dirty="0" smtClean="0"/>
              <a:t> </a:t>
            </a:r>
            <a:r>
              <a:rPr lang="en-US" sz="1600" dirty="0" err="1" smtClean="0"/>
              <a:t>result.boxes</a:t>
            </a:r>
            <a:r>
              <a:rPr lang="ru-RU" sz="1600" dirty="0" smtClean="0"/>
              <a:t> – сохранит боксы в переменную (промежуточный шаг)</a:t>
            </a:r>
          </a:p>
          <a:p>
            <a:r>
              <a:rPr lang="en-US" sz="1600" dirty="0" err="1" smtClean="0"/>
              <a:t>boxes.xyxy</a:t>
            </a:r>
            <a:r>
              <a:rPr lang="ru-RU" sz="1600" dirty="0" smtClean="0"/>
              <a:t> - координаты </a:t>
            </a:r>
            <a:r>
              <a:rPr lang="ru-RU" sz="1600" dirty="0"/>
              <a:t>в формате </a:t>
            </a:r>
            <a:r>
              <a:rPr lang="en-US" sz="1600" dirty="0" err="1"/>
              <a:t>xyxy</a:t>
            </a:r>
            <a:endParaRPr lang="ru-RU" sz="1600" dirty="0" smtClean="0"/>
          </a:p>
          <a:p>
            <a:r>
              <a:rPr lang="en-US" sz="1600" dirty="0" err="1" smtClean="0"/>
              <a:t>boxes</a:t>
            </a:r>
            <a:r>
              <a:rPr lang="en-US" sz="1600" dirty="0" err="1"/>
              <a:t>.</a:t>
            </a:r>
            <a:r>
              <a:rPr lang="en-US" sz="1600" dirty="0" err="1" smtClean="0"/>
              <a:t>xywh</a:t>
            </a:r>
            <a:r>
              <a:rPr lang="en-US" sz="1600" dirty="0" smtClean="0"/>
              <a:t> </a:t>
            </a:r>
            <a:r>
              <a:rPr lang="ru-RU" sz="1600" dirty="0" smtClean="0"/>
              <a:t>- координаты </a:t>
            </a:r>
            <a:r>
              <a:rPr lang="ru-RU" sz="1600" dirty="0"/>
              <a:t>в формате </a:t>
            </a:r>
            <a:r>
              <a:rPr lang="ru-RU" sz="1600" dirty="0" err="1"/>
              <a:t>xywh</a:t>
            </a:r>
            <a:r>
              <a:rPr lang="ru-RU" sz="1600" dirty="0"/>
              <a:t> (центр </a:t>
            </a:r>
            <a:r>
              <a:rPr lang="ru-RU" sz="1600" dirty="0" err="1"/>
              <a:t>x</a:t>
            </a:r>
            <a:r>
              <a:rPr lang="ru-RU" sz="1600" dirty="0"/>
              <a:t>, </a:t>
            </a:r>
            <a:r>
              <a:rPr lang="ru-RU" sz="1600" dirty="0" err="1"/>
              <a:t>центр</a:t>
            </a:r>
            <a:r>
              <a:rPr lang="ru-RU" sz="1600" dirty="0"/>
              <a:t> </a:t>
            </a:r>
            <a:r>
              <a:rPr lang="ru-RU" sz="1600" dirty="0" err="1"/>
              <a:t>y</a:t>
            </a:r>
            <a:r>
              <a:rPr lang="ru-RU" sz="1600" dirty="0"/>
              <a:t>, ширина, высота</a:t>
            </a:r>
            <a:r>
              <a:rPr lang="ru-RU" sz="1600" dirty="0" smtClean="0"/>
              <a:t>)</a:t>
            </a:r>
          </a:p>
          <a:p>
            <a:r>
              <a:rPr lang="en-US" sz="1600" dirty="0" err="1" smtClean="0"/>
              <a:t>boxes.conf</a:t>
            </a:r>
            <a:r>
              <a:rPr lang="ru-RU" sz="1600" dirty="0" smtClean="0"/>
              <a:t> - уверенность</a:t>
            </a:r>
          </a:p>
          <a:p>
            <a:r>
              <a:rPr lang="en-US" sz="1600" dirty="0" smtClean="0"/>
              <a:t>boxes.cls</a:t>
            </a:r>
            <a:r>
              <a:rPr lang="ru-RU" sz="1600" dirty="0" smtClean="0"/>
              <a:t> - к</a:t>
            </a:r>
            <a:r>
              <a:rPr lang="ru-RU" sz="1600" dirty="0"/>
              <a:t>лассы объектов</a:t>
            </a:r>
            <a:endParaRPr lang="en-US" sz="16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1785926"/>
            <a:ext cx="2571768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6" y="4214818"/>
            <a:ext cx="2143140" cy="482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-214346" y="691727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lang="ru-RU" sz="3600" dirty="0" smtClean="0">
                <a:latin typeface="+mj-lt"/>
                <a:ea typeface="+mj-ea"/>
                <a:cs typeface="+mj-cs"/>
              </a:rPr>
              <a:t>3</a:t>
            </a:r>
            <a:r>
              <a:rPr lang="en-US" sz="3600" dirty="0" smtClean="0">
                <a:latin typeface="+mj-lt"/>
                <a:ea typeface="+mj-ea"/>
                <a:cs typeface="+mj-cs"/>
              </a:rPr>
              <a:t>.1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</a:t>
            </a:r>
            <a:r>
              <a:rPr lang="ru-RU" sz="3600" dirty="0" smtClean="0">
                <a:latin typeface="+mj-lt"/>
                <a:ea typeface="+mj-ea"/>
                <a:cs typeface="+mj-cs"/>
              </a:rPr>
              <a:t>обработка данных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596" y="1947438"/>
            <a:ext cx="82153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используя выводы через боксы мы получим на выходе тензор.</a:t>
            </a:r>
            <a:r>
              <a:rPr lang="en-US" sz="1600" dirty="0" smtClean="0"/>
              <a:t>  </a:t>
            </a:r>
            <a:r>
              <a:rPr lang="ru-RU" sz="1600" dirty="0" smtClean="0"/>
              <a:t>сам по себе формат читаемый, но не подходит для даже простых вычислений.</a:t>
            </a:r>
          </a:p>
          <a:p>
            <a:r>
              <a:rPr lang="ru-RU" sz="1600" dirty="0" smtClean="0"/>
              <a:t>чтобы получить привычные данные можно воспользоваться  готовыми методами</a:t>
            </a:r>
          </a:p>
          <a:p>
            <a:r>
              <a:rPr lang="ru-RU" sz="1600" dirty="0" smtClean="0"/>
              <a:t>1) если элементов много то бери </a:t>
            </a:r>
            <a:r>
              <a:rPr lang="en-US" sz="1600" dirty="0" smtClean="0"/>
              <a:t>.</a:t>
            </a:r>
            <a:r>
              <a:rPr lang="en-US" sz="1600" dirty="0" err="1" smtClean="0"/>
              <a:t>tolist</a:t>
            </a:r>
            <a:r>
              <a:rPr lang="en-US" sz="1600" dirty="0" smtClean="0"/>
              <a:t>()</a:t>
            </a:r>
            <a:r>
              <a:rPr lang="ru-RU" sz="1600" dirty="0" smtClean="0"/>
              <a:t> – сразу преобразует в привычный </a:t>
            </a:r>
            <a:r>
              <a:rPr lang="en-US" sz="1600" dirty="0" smtClean="0"/>
              <a:t>list</a:t>
            </a:r>
            <a:r>
              <a:rPr lang="ru-RU" sz="1600" dirty="0" smtClean="0"/>
              <a:t> из которого можно взять все что угодно</a:t>
            </a:r>
          </a:p>
          <a:p>
            <a:r>
              <a:rPr lang="en-US" sz="1600" dirty="0" err="1"/>
              <a:t>boxes.xywh.tolist</a:t>
            </a:r>
            <a:r>
              <a:rPr lang="en-US" sz="1600" dirty="0" smtClean="0"/>
              <a:t>()</a:t>
            </a:r>
          </a:p>
          <a:p>
            <a:r>
              <a:rPr lang="ru-RU" sz="1600" dirty="0" smtClean="0"/>
              <a:t>также в тензорах часто можно обращаться по индексам</a:t>
            </a:r>
          </a:p>
          <a:p>
            <a:r>
              <a:rPr lang="en-US" sz="1600" dirty="0" err="1" smtClean="0"/>
              <a:t>boxes.xywh</a:t>
            </a:r>
            <a:r>
              <a:rPr lang="en-US" sz="1600" dirty="0" smtClean="0"/>
              <a:t>[0</a:t>
            </a:r>
            <a:r>
              <a:rPr lang="en-US" sz="1600" dirty="0"/>
              <a:t>].</a:t>
            </a:r>
            <a:r>
              <a:rPr lang="en-US" sz="1600" dirty="0" err="1"/>
              <a:t>tolist</a:t>
            </a:r>
            <a:r>
              <a:rPr lang="en-US" sz="1600" dirty="0"/>
              <a:t>()</a:t>
            </a:r>
          </a:p>
          <a:p>
            <a:endParaRPr lang="ru-RU" sz="1600" dirty="0" smtClean="0"/>
          </a:p>
          <a:p>
            <a:r>
              <a:rPr lang="ru-RU" sz="1600" dirty="0" smtClean="0"/>
              <a:t>2) если элемент 1 то бери </a:t>
            </a:r>
            <a:r>
              <a:rPr lang="en-US" sz="1600" dirty="0"/>
              <a:t>.</a:t>
            </a:r>
            <a:r>
              <a:rPr lang="en-US" sz="1600" dirty="0" smtClean="0"/>
              <a:t>item() – </a:t>
            </a:r>
            <a:r>
              <a:rPr lang="ru-RU" sz="1600" dirty="0" smtClean="0"/>
              <a:t>сразу </a:t>
            </a:r>
            <a:r>
              <a:rPr lang="ru-RU" sz="1600" dirty="0" smtClean="0"/>
              <a:t>преобразует  в примитивный тип (</a:t>
            </a:r>
            <a:r>
              <a:rPr lang="en-US" sz="1600" dirty="0" err="1" smtClean="0"/>
              <a:t>int</a:t>
            </a:r>
            <a:r>
              <a:rPr lang="en-US" sz="1600" dirty="0" smtClean="0"/>
              <a:t>, </a:t>
            </a:r>
            <a:r>
              <a:rPr lang="en-US" sz="1600" dirty="0" err="1" smtClean="0"/>
              <a:t>str</a:t>
            </a:r>
            <a:r>
              <a:rPr lang="en-US" sz="1600" dirty="0" smtClean="0"/>
              <a:t> </a:t>
            </a:r>
            <a:r>
              <a:rPr lang="ru-RU" sz="1600" dirty="0" err="1" smtClean="0"/>
              <a:t>итд</a:t>
            </a:r>
            <a:r>
              <a:rPr lang="ru-RU" sz="1600" dirty="0" smtClean="0"/>
              <a:t>)</a:t>
            </a:r>
          </a:p>
          <a:p>
            <a:r>
              <a:rPr lang="en-US" sz="1600" dirty="0" err="1"/>
              <a:t>boxes.conf</a:t>
            </a:r>
            <a:r>
              <a:rPr lang="en-US" sz="1600" dirty="0"/>
              <a:t>[0].item()</a:t>
            </a:r>
          </a:p>
          <a:p>
            <a:r>
              <a:rPr lang="en-US" sz="1600" dirty="0" err="1" smtClean="0"/>
              <a:t>boxes.xywh</a:t>
            </a:r>
            <a:r>
              <a:rPr lang="en-US" sz="1600" dirty="0" smtClean="0"/>
              <a:t>[0</a:t>
            </a:r>
            <a:r>
              <a:rPr lang="en-US" sz="1600" dirty="0"/>
              <a:t>][0].item</a:t>
            </a:r>
            <a:r>
              <a:rPr lang="en-US" sz="1600" dirty="0" smtClean="0"/>
              <a:t>()</a:t>
            </a:r>
            <a:endParaRPr lang="ru-RU" sz="1600" dirty="0" smtClean="0"/>
          </a:p>
          <a:p>
            <a:endParaRPr lang="ru-RU" sz="1600" dirty="0"/>
          </a:p>
          <a:p>
            <a:r>
              <a:rPr lang="ru-RU" sz="1600" dirty="0" smtClean="0"/>
              <a:t>3) или можно сразу собрать удобный словарик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-214346" y="71414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</a:t>
            </a:r>
            <a:r>
              <a:rPr lang="ru-RU" sz="4000" dirty="0">
                <a:latin typeface="+mj-lt"/>
                <a:ea typeface="+mj-ea"/>
                <a:cs typeface="+mj-cs"/>
              </a:rPr>
              <a:t>3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– использование </a:t>
            </a:r>
            <a:r>
              <a:rPr kumimoji="0" lang="ru-RU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нейросети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3719516"/>
            <a:ext cx="513397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4723510"/>
            <a:ext cx="1200150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4472262"/>
            <a:ext cx="120967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357422" y="3259748"/>
            <a:ext cx="1751965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643438" y="3009125"/>
            <a:ext cx="82153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 smtClean="0">
                <a:solidFill>
                  <a:schemeClr val="accent2">
                    <a:lumMod val="50000"/>
                  </a:schemeClr>
                </a:solidFill>
              </a:rPr>
              <a:t>очень длинный список</a:t>
            </a:r>
            <a:endParaRPr lang="en-US" sz="1200" i="1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14876" y="5143512"/>
            <a:ext cx="3796219" cy="161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42910" y="5429264"/>
            <a:ext cx="4000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boxes_data</a:t>
            </a:r>
            <a:r>
              <a:rPr lang="en-US" sz="1200" dirty="0" smtClean="0"/>
              <a:t> </a:t>
            </a:r>
            <a:r>
              <a:rPr lang="en-US" sz="1200" dirty="0"/>
              <a:t>=</a:t>
            </a:r>
            <a:r>
              <a:rPr lang="en-US" sz="1200" dirty="0" smtClean="0"/>
              <a:t> </a:t>
            </a:r>
            <a:r>
              <a:rPr lang="en-US" sz="1200" dirty="0"/>
              <a:t>[]</a:t>
            </a:r>
            <a:r>
              <a:rPr lang="en-US" sz="1200" dirty="0" smtClean="0"/>
              <a:t> </a:t>
            </a:r>
            <a:endParaRPr lang="ru-RU" sz="1200" dirty="0" smtClean="0"/>
          </a:p>
          <a:p>
            <a:r>
              <a:rPr lang="en-US" sz="1200" dirty="0" smtClean="0"/>
              <a:t>for </a:t>
            </a:r>
            <a:r>
              <a:rPr lang="en-US" sz="1200" dirty="0" err="1" smtClean="0"/>
              <a:t>i</a:t>
            </a:r>
            <a:r>
              <a:rPr lang="en-US" sz="1200" dirty="0" smtClean="0"/>
              <a:t> </a:t>
            </a:r>
            <a:r>
              <a:rPr lang="en-US" sz="1200" dirty="0"/>
              <a:t>in</a:t>
            </a:r>
            <a:r>
              <a:rPr lang="en-US" sz="1200" dirty="0" smtClean="0"/>
              <a:t> </a:t>
            </a:r>
            <a:r>
              <a:rPr lang="en-US" sz="1200" dirty="0"/>
              <a:t>range(</a:t>
            </a:r>
            <a:r>
              <a:rPr lang="en-US" sz="1200" dirty="0" err="1"/>
              <a:t>len</a:t>
            </a:r>
            <a:r>
              <a:rPr lang="en-US" sz="1200" dirty="0"/>
              <a:t>(</a:t>
            </a:r>
            <a:r>
              <a:rPr lang="en-US" sz="1200" dirty="0" smtClean="0"/>
              <a:t>boxes</a:t>
            </a:r>
            <a:r>
              <a:rPr lang="en-US" sz="1200" dirty="0"/>
              <a:t>)):</a:t>
            </a:r>
            <a:r>
              <a:rPr lang="en-US" sz="1200" dirty="0" smtClean="0"/>
              <a:t> </a:t>
            </a:r>
            <a:r>
              <a:rPr lang="en-US" sz="1200" dirty="0" err="1" smtClean="0"/>
              <a:t>box_info</a:t>
            </a:r>
            <a:r>
              <a:rPr lang="en-US" sz="1200" dirty="0" smtClean="0"/>
              <a:t> </a:t>
            </a:r>
            <a:r>
              <a:rPr lang="en-US" sz="1200" dirty="0"/>
              <a:t>=</a:t>
            </a:r>
            <a:r>
              <a:rPr lang="en-US" sz="1200" dirty="0" smtClean="0"/>
              <a:t> </a:t>
            </a:r>
            <a:r>
              <a:rPr lang="en-US" sz="1200" dirty="0"/>
              <a:t>{</a:t>
            </a:r>
            <a:r>
              <a:rPr lang="en-US" sz="1200" dirty="0" smtClean="0"/>
              <a:t> </a:t>
            </a:r>
            <a:r>
              <a:rPr lang="en-US" sz="1200" dirty="0"/>
              <a:t>'</a:t>
            </a:r>
            <a:r>
              <a:rPr lang="en-US" sz="1200" dirty="0" err="1"/>
              <a:t>bbox</a:t>
            </a:r>
            <a:r>
              <a:rPr lang="en-US" sz="1200" dirty="0"/>
              <a:t>':</a:t>
            </a:r>
            <a:r>
              <a:rPr lang="en-US" sz="1200" dirty="0" smtClean="0"/>
              <a:t> </a:t>
            </a:r>
            <a:r>
              <a:rPr lang="en-US" sz="1200" dirty="0" err="1" smtClean="0"/>
              <a:t>boxes</a:t>
            </a:r>
            <a:r>
              <a:rPr lang="en-US" sz="1200" dirty="0" err="1"/>
              <a:t>.</a:t>
            </a:r>
            <a:r>
              <a:rPr lang="en-US" sz="1200" dirty="0" err="1" smtClean="0"/>
              <a:t>xyxy</a:t>
            </a:r>
            <a:r>
              <a:rPr lang="en-US" sz="1200" dirty="0"/>
              <a:t>[</a:t>
            </a:r>
            <a:r>
              <a:rPr lang="en-US" sz="1200" dirty="0" err="1" smtClean="0"/>
              <a:t>i</a:t>
            </a:r>
            <a:r>
              <a:rPr lang="en-US" sz="1200" dirty="0"/>
              <a:t>].</a:t>
            </a:r>
            <a:r>
              <a:rPr lang="en-US" sz="1200" dirty="0" err="1" smtClean="0"/>
              <a:t>tolist</a:t>
            </a:r>
            <a:r>
              <a:rPr lang="en-US" sz="1200" dirty="0"/>
              <a:t>(),</a:t>
            </a:r>
            <a:r>
              <a:rPr lang="en-US" sz="1200" dirty="0" smtClean="0"/>
              <a:t> </a:t>
            </a:r>
            <a:r>
              <a:rPr lang="en-US" sz="1200" dirty="0"/>
              <a:t># [x1, y1, x2, y2]</a:t>
            </a:r>
            <a:r>
              <a:rPr lang="en-US" sz="1200" dirty="0" smtClean="0"/>
              <a:t> </a:t>
            </a:r>
            <a:r>
              <a:rPr lang="en-US" sz="1200" dirty="0"/>
              <a:t>'confidence':</a:t>
            </a:r>
            <a:r>
              <a:rPr lang="en-US" sz="1200" dirty="0" smtClean="0"/>
              <a:t> </a:t>
            </a:r>
            <a:r>
              <a:rPr lang="en-US" sz="1200" dirty="0" err="1" smtClean="0"/>
              <a:t>boxes</a:t>
            </a:r>
            <a:r>
              <a:rPr lang="en-US" sz="1200" dirty="0" err="1"/>
              <a:t>.</a:t>
            </a:r>
            <a:r>
              <a:rPr lang="en-US" sz="1200" dirty="0" err="1" smtClean="0"/>
              <a:t>conf</a:t>
            </a:r>
            <a:r>
              <a:rPr lang="en-US" sz="1200" dirty="0"/>
              <a:t>[</a:t>
            </a:r>
            <a:r>
              <a:rPr lang="en-US" sz="1200" dirty="0" err="1" smtClean="0"/>
              <a:t>i</a:t>
            </a:r>
            <a:r>
              <a:rPr lang="en-US" sz="1200" dirty="0"/>
              <a:t>].</a:t>
            </a:r>
            <a:r>
              <a:rPr lang="en-US" sz="1200" dirty="0" smtClean="0"/>
              <a:t>item</a:t>
            </a:r>
            <a:r>
              <a:rPr lang="en-US" sz="1200" dirty="0"/>
              <a:t>(),</a:t>
            </a:r>
            <a:r>
              <a:rPr lang="en-US" sz="1200" dirty="0" smtClean="0"/>
              <a:t> </a:t>
            </a:r>
            <a:r>
              <a:rPr lang="en-US" sz="1200" dirty="0"/>
              <a:t># </a:t>
            </a:r>
            <a:r>
              <a:rPr lang="ru-RU" sz="1200" dirty="0"/>
              <a:t>уверенность</a:t>
            </a:r>
            <a:r>
              <a:rPr lang="ru-RU" sz="1200" dirty="0" smtClean="0"/>
              <a:t> </a:t>
            </a:r>
            <a:r>
              <a:rPr lang="ru-RU" sz="1200" dirty="0"/>
              <a:t>'</a:t>
            </a:r>
            <a:r>
              <a:rPr lang="en-US" sz="1200" dirty="0" err="1"/>
              <a:t>class_id</a:t>
            </a:r>
            <a:r>
              <a:rPr lang="en-US" sz="1200" dirty="0"/>
              <a:t>':</a:t>
            </a:r>
            <a:r>
              <a:rPr lang="en-US" sz="1200" dirty="0" smtClean="0"/>
              <a:t> boxes</a:t>
            </a:r>
            <a:r>
              <a:rPr lang="en-US" sz="1200" dirty="0"/>
              <a:t>.</a:t>
            </a:r>
            <a:r>
              <a:rPr lang="en-US" sz="1200" dirty="0" smtClean="0"/>
              <a:t>cls</a:t>
            </a:r>
            <a:r>
              <a:rPr lang="en-US" sz="1200" dirty="0"/>
              <a:t>[</a:t>
            </a:r>
            <a:r>
              <a:rPr lang="en-US" sz="1200" dirty="0" err="1" smtClean="0"/>
              <a:t>i</a:t>
            </a:r>
            <a:r>
              <a:rPr lang="en-US" sz="1200" dirty="0"/>
              <a:t>].</a:t>
            </a:r>
            <a:r>
              <a:rPr lang="en-US" sz="1200" dirty="0" smtClean="0"/>
              <a:t>item</a:t>
            </a:r>
            <a:r>
              <a:rPr lang="en-US" sz="1200" dirty="0"/>
              <a:t>(),</a:t>
            </a:r>
            <a:r>
              <a:rPr lang="en-US" sz="1200" dirty="0" smtClean="0"/>
              <a:t> </a:t>
            </a:r>
            <a:r>
              <a:rPr lang="en-US" sz="1200" dirty="0"/>
              <a:t># </a:t>
            </a:r>
            <a:r>
              <a:rPr lang="ru-RU" sz="1200" dirty="0"/>
              <a:t>номер класса</a:t>
            </a:r>
            <a:r>
              <a:rPr lang="ru-RU" sz="1200" dirty="0" smtClean="0"/>
              <a:t> </a:t>
            </a:r>
            <a:r>
              <a:rPr lang="ru-RU" sz="1200" dirty="0"/>
              <a:t>'</a:t>
            </a:r>
            <a:r>
              <a:rPr lang="en-US" sz="1200" dirty="0" err="1"/>
              <a:t>class_name</a:t>
            </a:r>
            <a:r>
              <a:rPr lang="en-US" sz="1200" dirty="0"/>
              <a:t>':</a:t>
            </a:r>
            <a:r>
              <a:rPr lang="en-US" sz="1200" dirty="0" smtClean="0"/>
              <a:t> </a:t>
            </a:r>
            <a:r>
              <a:rPr lang="en-US" sz="1200" dirty="0" err="1" smtClean="0"/>
              <a:t>result</a:t>
            </a:r>
            <a:r>
              <a:rPr lang="en-US" sz="1200" dirty="0" err="1"/>
              <a:t>.</a:t>
            </a:r>
            <a:r>
              <a:rPr lang="en-US" sz="1200" dirty="0" err="1" smtClean="0"/>
              <a:t>names</a:t>
            </a:r>
            <a:r>
              <a:rPr lang="en-US" sz="1200" dirty="0"/>
              <a:t>[</a:t>
            </a:r>
            <a:r>
              <a:rPr lang="en-US" sz="1200" dirty="0" err="1"/>
              <a:t>int</a:t>
            </a:r>
            <a:r>
              <a:rPr lang="en-US" sz="1200" dirty="0"/>
              <a:t>(</a:t>
            </a:r>
            <a:r>
              <a:rPr lang="en-US" sz="1200" dirty="0" smtClean="0"/>
              <a:t>boxes</a:t>
            </a:r>
            <a:r>
              <a:rPr lang="en-US" sz="1200" dirty="0"/>
              <a:t>.</a:t>
            </a:r>
            <a:r>
              <a:rPr lang="en-US" sz="1200" dirty="0" smtClean="0"/>
              <a:t>cls</a:t>
            </a:r>
            <a:r>
              <a:rPr lang="en-US" sz="1200" dirty="0"/>
              <a:t>[</a:t>
            </a:r>
            <a:r>
              <a:rPr lang="en-US" sz="1200" dirty="0" err="1" smtClean="0"/>
              <a:t>i</a:t>
            </a:r>
            <a:r>
              <a:rPr lang="en-US" sz="1200" dirty="0"/>
              <a:t>])]</a:t>
            </a:r>
            <a:r>
              <a:rPr lang="en-US" sz="1200" dirty="0" smtClean="0"/>
              <a:t> </a:t>
            </a:r>
            <a:r>
              <a:rPr lang="en-US" sz="1200" dirty="0"/>
              <a:t># </a:t>
            </a:r>
            <a:r>
              <a:rPr lang="ru-RU" sz="1200" dirty="0"/>
              <a:t>имя класса</a:t>
            </a:r>
            <a:r>
              <a:rPr lang="ru-RU" sz="1200" dirty="0" smtClean="0"/>
              <a:t> </a:t>
            </a:r>
            <a:r>
              <a:rPr lang="ru-RU" sz="1200" dirty="0"/>
              <a:t>}</a:t>
            </a:r>
            <a:r>
              <a:rPr lang="ru-RU" sz="1200" dirty="0" smtClean="0"/>
              <a:t> </a:t>
            </a:r>
            <a:r>
              <a:rPr lang="en-US" sz="1200" dirty="0" err="1" smtClean="0"/>
              <a:t>boxes_data</a:t>
            </a:r>
            <a:r>
              <a:rPr lang="en-US" sz="1200" dirty="0" err="1"/>
              <a:t>.</a:t>
            </a:r>
            <a:r>
              <a:rPr lang="en-US" sz="1200" dirty="0" err="1" smtClean="0"/>
              <a:t>append</a:t>
            </a:r>
            <a:r>
              <a:rPr lang="en-US" sz="1200" dirty="0"/>
              <a:t>(</a:t>
            </a:r>
            <a:r>
              <a:rPr lang="en-US" sz="1200" dirty="0" err="1" smtClean="0"/>
              <a:t>box_info</a:t>
            </a:r>
            <a:r>
              <a:rPr lang="en-US" sz="1200"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-214346" y="71414"/>
            <a:ext cx="942981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Шаг 4 – аналитика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(бонусный)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5786" y="1428736"/>
            <a:ext cx="750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если что-то пошло не так и </a:t>
            </a:r>
            <a:r>
              <a:rPr lang="ru-RU" dirty="0" err="1" smtClean="0"/>
              <a:t>нейронка</a:t>
            </a:r>
            <a:r>
              <a:rPr lang="ru-RU" dirty="0" smtClean="0"/>
              <a:t> вышла тупая, то подсказку могут дать графики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786" y="2143116"/>
            <a:ext cx="821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обучения их можно найти в папках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786058"/>
            <a:ext cx="6643734" cy="3321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785786" y="2488164"/>
            <a:ext cx="821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примерно так должны выглядеть идеальные графики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4414" y="6072206"/>
            <a:ext cx="821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loss</a:t>
            </a:r>
            <a:r>
              <a:rPr lang="ru-RU" dirty="0" smtClean="0"/>
              <a:t> становятся меньше, </a:t>
            </a:r>
            <a:r>
              <a:rPr lang="en-US" dirty="0" smtClean="0"/>
              <a:t>metrics </a:t>
            </a:r>
            <a:r>
              <a:rPr lang="ru-RU" dirty="0" smtClean="0"/>
              <a:t>становятся больше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1199</Words>
  <Application>Microsoft Office PowerPoint</Application>
  <PresentationFormat>Экран (4:3)</PresentationFormat>
  <Paragraphs>147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Инструкция по созданию своей нейросети</vt:lpstr>
      <vt:lpstr>Шаг 0 – собрать данные (фотографии)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Инструкция по созданию своей нейросети</dc:title>
  <dc:creator>Blokk</dc:creator>
  <cp:lastModifiedBy>Blokk</cp:lastModifiedBy>
  <cp:revision>29</cp:revision>
  <dcterms:created xsi:type="dcterms:W3CDTF">2026-02-04T13:52:44Z</dcterms:created>
  <dcterms:modified xsi:type="dcterms:W3CDTF">2026-02-04T16:54:42Z</dcterms:modified>
</cp:coreProperties>
</file>